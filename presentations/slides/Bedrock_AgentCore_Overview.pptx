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34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5953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Bedrock AgentCore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2333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Модульна платформа для AI агентів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EPAM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00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таке AgentCore?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754880" y="1188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400" dirty="0"/>
          </a:p>
        </p:txBody>
      </p:sp>
      <p:pic>
        <p:nvPicPr>
          <p:cNvPr id="13" name="Image 0" descr="misc/amazon_bedrock_agentcore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023" y="726948"/>
            <a:ext cx="8841954" cy="4094434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39C2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74320" y="49560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EPAM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412480" y="49560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модульних сервісів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7432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🏃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88720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середовище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188720"/>
            <a:ext cx="27432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52044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069080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06908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Пам'ять агента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188720"/>
            <a:ext cx="27432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949440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4944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 → MCP tools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286000"/>
            <a:ext cx="27432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1188720" y="2468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2788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Авторизація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37560" y="2286000"/>
            <a:ext cx="27432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52044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4069080" y="2468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Interpreter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069080" y="2788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Виконання коду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2286000"/>
            <a:ext cx="27432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949440" y="2468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49440" y="2788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Веб-взаємодія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383280"/>
            <a:ext cx="27432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008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1188720" y="3566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88720" y="3886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Моніторинг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337560" y="3383280"/>
            <a:ext cx="27432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52044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4069080" y="3566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069080" y="3886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Оцінка якості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17920" y="3383280"/>
            <a:ext cx="27432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40080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3200" dirty="0"/>
          </a:p>
        </p:txBody>
      </p:sp>
      <p:sp>
        <p:nvSpPr>
          <p:cNvPr id="37" name="Text 35"/>
          <p:cNvSpPr/>
          <p:nvPr/>
        </p:nvSpPr>
        <p:spPr>
          <a:xfrm>
            <a:off x="6949440" y="3566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949440" y="3886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доступу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39C2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74320" y="49560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EPAM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412480" y="49560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7432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Автономні агенти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Customer support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Workflow automation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Research assistants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188720"/>
            <a:ext cx="27432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11880" y="1371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520440" y="1920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сервери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11880" y="24688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Перетворення APIs в tools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11880" y="2926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Unified tool interface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11880" y="3383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Protocol standardization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1188720"/>
            <a:ext cx="27432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92240" y="1371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400800" y="1920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платформи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92240" y="24688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Централізований governance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2926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Multi-tenant deployment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92240" y="3383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Enterprise security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39C2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49560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EPAM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12480" y="49560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AgentCore Runtime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00B4A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Secure, serverless середовище для AI агентів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Локальний код → Production deployment за кілька рядків</a:t>
            </a:r>
            <a:endParaRPr lang="en-US" sz="1400" dirty="0"/>
          </a:p>
        </p:txBody>
      </p:sp>
      <p:pic>
        <p:nvPicPr>
          <p:cNvPr id="6" name="Image 0" descr="misc/runti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0"/>
            <a:ext cx="8229600" cy="2651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39C2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74320" y="49560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EPAM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12480" y="49560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- Ключові можливості (1/2)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Agnostic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691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LangGraph, CrewAI, Strands, Custom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0" y="13258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669280" y="1371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Flexibility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669280" y="1691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Claude, Gemini, GPT, Bedrock models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4231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280160" y="24688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Support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27889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та Agent-to-Agent (A2A)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228600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0" y="24231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5669280" y="24688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Isolation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669280" y="27889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Кожна сесія в окремій microVM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35204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1280160" y="35661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Extended Execution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3886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8 годин для async workloads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338328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0" y="35204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5669280" y="35661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Consumption Pricing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669280" y="3886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Платите тільки за використання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39C2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" y="49560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EPAM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412480" y="49560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- Ключові можливості (2/2)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280160" y="16002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Auth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965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Інтеграція з Cognito, Okta, Entra ID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37160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0" y="155448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👁️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669280" y="16002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Observability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669280" y="1965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Трейсинг reasoning та tool calls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83464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280160" y="28803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100MB Payloads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246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Підтримка multimodal content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265176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0" y="283464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5669280" y="28803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Bidirectional Streaming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669280" y="3246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для real-time взаємодії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39C2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49560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EPAM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0" y="49560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- Simple Integration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рядки коду для production deployment: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71600" y="1463040"/>
            <a:ext cx="6400800" cy="2560320"/>
          </a:xfrm>
          <a:prstGeom prst="rect">
            <a:avLst/>
          </a:prstGeom>
          <a:solidFill>
            <a:srgbClr val="3D3D3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554480" y="1645920"/>
            <a:ext cx="6035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bedrock_agentcore import BedrockAgentCoreApp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BedrockAgentCoreApp()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@app.entrypoint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invoke(payload, context):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your_agent_logic(payload)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app.run()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39C2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9560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EPAM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0" y="49560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AgentCore Identity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вирішує: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Безпечний доступ агентів до user-specific даних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1005840"/>
            <a:ext cx="4114800" cy="822960"/>
          </a:xfrm>
          <a:prstGeom prst="rect">
            <a:avLst/>
          </a:prstGeom>
          <a:solidFill>
            <a:srgbClr val="00B4A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0" y="11430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Ключовий принцип: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1417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Delegation, not Impersonation</a:t>
            </a:r>
            <a:endParaRPr lang="en-US" sz="1300" dirty="0"/>
          </a:p>
        </p:txBody>
      </p:sp>
      <p:pic>
        <p:nvPicPr>
          <p:cNvPr id="9" name="Image 0" descr="misc/inbound_outbound_au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0"/>
            <a:ext cx="8229600" cy="26517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39C2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74320" y="49560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EPAM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412480" y="49560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Inbound Authentication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00B4A8">
              <a:alpha val="80000"/>
            </a:srgb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"Who is this user?"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"Is user allowed to call this agent?"</a:t>
            </a:r>
            <a:endParaRPr lang="en-US" sz="1600" dirty="0"/>
          </a:p>
        </p:txBody>
      </p:sp>
      <p:pic>
        <p:nvPicPr>
          <p:cNvPr id="6" name="Image 0" descr="misc/example_inbound_authorization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0"/>
            <a:ext cx="8229600" cy="2743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39C2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74320" y="49560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EPAM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12480" y="49560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Outbound Authentication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solidFill>
            <a:srgbClr val="39C2D7">
              <a:alpha val="80000"/>
            </a:srgb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"Is agent allowed to access this resource on behalf of user?"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Resources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 execution roles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82880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120640" y="20116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Services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20640" y="23317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2-legged / 3-legged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371600" y="2926080"/>
            <a:ext cx="6400800" cy="548640"/>
          </a:xfrm>
          <a:prstGeom prst="rect">
            <a:avLst/>
          </a:prstGeom>
          <a:solidFill>
            <a:srgbClr val="00B4A8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645920" y="306324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Use case: Агент читає Google Docs користувача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39C2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49560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EPAM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0" y="49560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Inbound vs Outbound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640080"/>
          </a:xfrm>
          <a:prstGeom prst="rect">
            <a:avLst/>
          </a:prstGeom>
          <a:solidFill>
            <a:srgbClr val="00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Inbound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→ Agent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user access to agent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41148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4114800" cy="640080"/>
          </a:xfrm>
          <a:prstGeom prst="rect">
            <a:avLst/>
          </a:prstGeom>
          <a:solidFill>
            <a:srgbClr val="39C2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0" y="1325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Outbound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120640" y="20116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→ External API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20640" y="246888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Delegate user permissions to resources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39C2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49560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EPAM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0" y="49560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Benefits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7432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Trust Security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 of least privilege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1371600"/>
            <a:ext cx="27432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11880" y="15544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520440" y="2377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20440" y="28346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+ інші clouds + on-premise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27432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92240" y="15544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6400800" y="2377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0" y="28346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та security monitoring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39C2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49560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EPAM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12480" y="49560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AgentCore Memory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агенти stateless за замовчуванням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46320" y="1005840"/>
            <a:ext cx="4114800" cy="822960"/>
          </a:xfrm>
          <a:prstGeom prst="rect">
            <a:avLst/>
          </a:prstGeom>
          <a:solidFill>
            <a:srgbClr val="00B4A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12064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Рішення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2064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managed сервіс для context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Два типи пам'яті: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41148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26974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1828800" y="28346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28800" y="32004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Turn-by-turn в межах сесії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46320" y="2560320"/>
            <a:ext cx="41148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20640" y="26974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217920" y="28346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17920" y="32004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preferences між сесіями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39C2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49560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EPAM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12480" y="49560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vs With Memory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Memory:</a:t>
            </a:r>
            <a:endParaRPr lang="en-US" sz="1600" dirty="0"/>
          </a:p>
        </p:txBody>
      </p:sp>
      <p:pic>
        <p:nvPicPr>
          <p:cNvPr id="4" name="Image 0" descr="misc/without_mem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3657600" cy="3017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0" y="1005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Memory:</a:t>
            </a:r>
            <a:endParaRPr lang="en-US" sz="1600" dirty="0"/>
          </a:p>
        </p:txBody>
      </p:sp>
      <p:pic>
        <p:nvPicPr>
          <p:cNvPr id="6" name="Image 1" descr="misc/with_mem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3657600" cy="30175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39C2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274320" y="49560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EPAM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412480" y="49560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Use Cases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1148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55448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agents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554480" y="1965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support з historical context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280160"/>
            <a:ext cx="41148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120640" y="14630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94360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Task-oriented agents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0" y="1965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tracking (invoice approval)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41148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9260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554480" y="3017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systems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54480" y="3429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memory для coordination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2743200"/>
            <a:ext cx="41148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120640" y="29260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5943600" y="3017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agents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943600" y="3429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from past experiences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39C2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49560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EPAM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0" y="49560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AgentCore Gateway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00B4A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Перетворює APIs та Lambda в MCP servers</a:t>
            </a:r>
            <a:endParaRPr lang="en-US" sz="1800" dirty="0"/>
          </a:p>
        </p:txBody>
      </p:sp>
      <p:pic>
        <p:nvPicPr>
          <p:cNvPr id="5" name="Image 0" descr="misc/gatew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0"/>
            <a:ext cx="8229600" cy="2743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39C2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74320" y="49560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EPAM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412480" y="49560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/>
          </p:cNvSpPr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- Як працює</a:t>
            </a:r>
            <a:endParaRPr lang="en-US" sz="3600" dirty="0"/>
          </a:p>
        </p:txBody>
      </p:sp>
      <p:sp>
        <p:nvSpPr>
          <p:cNvPr id="3" name="Text 1"/>
          <p:cNvSpPr>
            <a:spLocks/>
          </p:cNvSpPr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Target - 3 типи:</a:t>
            </a:r>
            <a:endParaRPr lang="en-US" sz="1800" dirty="0"/>
          </a:p>
        </p:txBody>
      </p:sp>
      <p:sp>
        <p:nvSpPr>
          <p:cNvPr id="4" name="Shape 2"/>
          <p:cNvSpPr>
            <a:spLocks/>
          </p:cNvSpPr>
          <p:nvPr/>
        </p:nvSpPr>
        <p:spPr>
          <a:xfrm>
            <a:off x="434340" y="1403491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>
            <a:spLocks/>
          </p:cNvSpPr>
          <p:nvPr/>
        </p:nvSpPr>
        <p:spPr>
          <a:xfrm>
            <a:off x="502920" y="1494931"/>
            <a:ext cx="457200" cy="457200"/>
          </a:xfrm>
          <a:prstGeom prst="ellipse">
            <a:avLst/>
          </a:prstGeom>
          <a:solidFill>
            <a:srgbClr val="00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>
            <a:spLocks/>
          </p:cNvSpPr>
          <p:nvPr/>
        </p:nvSpPr>
        <p:spPr>
          <a:xfrm>
            <a:off x="487806" y="1585237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>
            <a:spLocks/>
          </p:cNvSpPr>
          <p:nvPr/>
        </p:nvSpPr>
        <p:spPr>
          <a:xfrm>
            <a:off x="661240" y="1585237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 ARNs</a:t>
            </a:r>
            <a:endParaRPr lang="en-US" sz="1400" dirty="0"/>
          </a:p>
        </p:txBody>
      </p:sp>
      <p:sp>
        <p:nvSpPr>
          <p:cNvPr id="8" name="Text 6"/>
          <p:cNvSpPr>
            <a:spLocks/>
          </p:cNvSpPr>
          <p:nvPr/>
        </p:nvSpPr>
        <p:spPr>
          <a:xfrm>
            <a:off x="661240" y="2131081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Lambda functions</a:t>
            </a:r>
            <a:endParaRPr lang="en-US" sz="1200" dirty="0"/>
          </a:p>
        </p:txBody>
      </p:sp>
      <p:sp>
        <p:nvSpPr>
          <p:cNvPr id="9" name="Shape 7"/>
          <p:cNvSpPr>
            <a:spLocks/>
          </p:cNvSpPr>
          <p:nvPr/>
        </p:nvSpPr>
        <p:spPr>
          <a:xfrm>
            <a:off x="3330570" y="1403491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>
            <a:spLocks/>
          </p:cNvSpPr>
          <p:nvPr/>
        </p:nvSpPr>
        <p:spPr>
          <a:xfrm>
            <a:off x="3398725" y="1494931"/>
            <a:ext cx="457200" cy="457200"/>
          </a:xfrm>
          <a:prstGeom prst="ellipse">
            <a:avLst/>
          </a:prstGeom>
          <a:solidFill>
            <a:srgbClr val="00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>
            <a:spLocks/>
          </p:cNvSpPr>
          <p:nvPr/>
        </p:nvSpPr>
        <p:spPr>
          <a:xfrm>
            <a:off x="3398725" y="1585237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>
            <a:spLocks/>
          </p:cNvSpPr>
          <p:nvPr/>
        </p:nvSpPr>
        <p:spPr>
          <a:xfrm>
            <a:off x="3589587" y="1585237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specifications</a:t>
            </a:r>
            <a:endParaRPr lang="en-US" sz="1400" dirty="0"/>
          </a:p>
        </p:txBody>
      </p:sp>
      <p:sp>
        <p:nvSpPr>
          <p:cNvPr id="13" name="Text 11"/>
          <p:cNvSpPr>
            <a:spLocks/>
          </p:cNvSpPr>
          <p:nvPr/>
        </p:nvSpPr>
        <p:spPr>
          <a:xfrm>
            <a:off x="3509010" y="2135993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OpenAPI, Smithy</a:t>
            </a:r>
            <a:endParaRPr lang="en-US" sz="1200" dirty="0"/>
          </a:p>
        </p:txBody>
      </p:sp>
      <p:sp>
        <p:nvSpPr>
          <p:cNvPr id="14" name="Shape 12"/>
          <p:cNvSpPr>
            <a:spLocks/>
          </p:cNvSpPr>
          <p:nvPr/>
        </p:nvSpPr>
        <p:spPr>
          <a:xfrm>
            <a:off x="6217920" y="141732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>
            <a:spLocks/>
          </p:cNvSpPr>
          <p:nvPr/>
        </p:nvSpPr>
        <p:spPr>
          <a:xfrm>
            <a:off x="6310116" y="1494931"/>
            <a:ext cx="457200" cy="457200"/>
          </a:xfrm>
          <a:prstGeom prst="ellipse">
            <a:avLst/>
          </a:prstGeom>
          <a:solidFill>
            <a:srgbClr val="00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>
            <a:spLocks/>
          </p:cNvSpPr>
          <p:nvPr/>
        </p:nvSpPr>
        <p:spPr>
          <a:xfrm>
            <a:off x="6310116" y="1586371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>
            <a:spLocks/>
          </p:cNvSpPr>
          <p:nvPr/>
        </p:nvSpPr>
        <p:spPr>
          <a:xfrm>
            <a:off x="6400800" y="1585237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Transport</a:t>
            </a:r>
            <a:endParaRPr lang="en-US" sz="1400" dirty="0"/>
          </a:p>
        </p:txBody>
      </p:sp>
      <p:sp>
        <p:nvSpPr>
          <p:cNvPr id="18" name="Text 16"/>
          <p:cNvSpPr>
            <a:spLocks/>
          </p:cNvSpPr>
          <p:nvPr/>
        </p:nvSpPr>
        <p:spPr>
          <a:xfrm>
            <a:off x="6400800" y="2131081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Streamable HTTP</a:t>
            </a:r>
            <a:endParaRPr lang="en-US" sz="1200" dirty="0"/>
          </a:p>
        </p:txBody>
      </p:sp>
      <p:pic>
        <p:nvPicPr>
          <p:cNvPr id="22" name="Image 0" descr="misc/gateway_how_it_wor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784990"/>
            <a:ext cx="7120624" cy="1822284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39C2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274320" y="49560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EPAM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412480" y="49560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- Авторизація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457200"/>
          </a:xfrm>
          <a:prstGeom prst="rect">
            <a:avLst/>
          </a:prstGeom>
          <a:solidFill>
            <a:srgbClr val="00B4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Inbound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→ Agent → Gateway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token validation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41148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4114800" cy="457200"/>
          </a:xfrm>
          <a:prstGeom prst="rect">
            <a:avLst/>
          </a:prstGeom>
          <a:solidFill>
            <a:srgbClr val="39C2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0" y="1188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Outbound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120640" y="1691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→ External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20640" y="20116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keys, IAM, OAuth</a:t>
            </a:r>
            <a:endParaRPr lang="en-US" sz="1300" dirty="0"/>
          </a:p>
        </p:txBody>
      </p:sp>
      <p:pic>
        <p:nvPicPr>
          <p:cNvPr id="13" name="Image 0" descr="misc/gateway_inbound_outb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60320"/>
            <a:ext cx="8229600" cy="210312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39C2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74320" y="49560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EPAM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412480" y="49560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- Tool Discovery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Проблема: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Сотні tools (360 з 3 targets)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1005840"/>
            <a:ext cx="4114800" cy="731520"/>
          </a:xfrm>
          <a:prstGeom prst="rect">
            <a:avLst/>
          </a:prstGeom>
          <a:solidFill>
            <a:srgbClr val="00B4A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0" y="11430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Рішення: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14173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search з vector embeddings</a:t>
            </a:r>
            <a:endParaRPr lang="en-US" sz="1300" dirty="0"/>
          </a:p>
        </p:txBody>
      </p:sp>
      <p:pic>
        <p:nvPicPr>
          <p:cNvPr id="9" name="Image 0" descr="misc/gateway_searching_for_too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20240"/>
            <a:ext cx="8229600" cy="21945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371600" y="4206240"/>
            <a:ext cx="6400800" cy="457200"/>
          </a:xfrm>
          <a:prstGeom prst="rect">
            <a:avLst/>
          </a:prstGeom>
          <a:solidFill>
            <a:srgbClr val="00B4A8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645920" y="429768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"draft a new advertisement" → 4 релевантних tools замість 360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39C2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74320" y="49560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EPAM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412480" y="49560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Benefits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7432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Infrastructure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managed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371600"/>
            <a:ext cx="27432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11880" y="1554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520440" y="2103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Interface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20440" y="2377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protocol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27432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92240" y="1554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400800" y="2103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Auth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2377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lifecycle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27432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3200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40080" y="3749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Scaling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023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capacity planning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37560" y="3017520"/>
            <a:ext cx="27432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11880" y="3200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3520440" y="3749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Security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520440" y="4023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 + audit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39C2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4320" y="49560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EPAM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412480" y="49560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Ключові переваги AgentCore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7432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👨‍💻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Розробники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Framework-agnostic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Minimal code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Local → Cloud seamless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37560" y="1188720"/>
            <a:ext cx="27432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11880" y="13716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520440" y="2011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Операції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11880" y="25603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Fully managed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11880" y="3017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Security built-in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11880" y="34747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Auto-scaling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1188720"/>
            <a:ext cx="27432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92240" y="13716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💼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400800" y="2011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Бізнес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92240" y="25603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Production-ready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3017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Pay per use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34747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Compliance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39C2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49560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EPAM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12480" y="49560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Наступний воркшоп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практика з AgentCore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2286000"/>
            <a:ext cx="6400800" cy="182880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45920" y="246888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</a:t>
            </a: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Локальний ReAct агент → Cloud deployment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45920" y="288036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</a:t>
            </a: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OAuth 3-legged авторизація з Google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329184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</a:t>
            </a: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Інтеграція з Google Docs через Gateway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370332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</a:t>
            </a: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Persistence та session management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9C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EPAM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703</Words>
  <Application>Microsoft Macintosh PowerPoint</Application>
  <PresentationFormat>On-screen Show (16:9)</PresentationFormat>
  <Paragraphs>284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Bedrock AgentCore Overview</dc:title>
  <dc:subject>PptxGenJS Presentation</dc:subject>
  <dc:creator>EPAM Workshop</dc:creator>
  <cp:lastModifiedBy>Dubovyk, Kyrylo</cp:lastModifiedBy>
  <cp:revision>3</cp:revision>
  <dcterms:created xsi:type="dcterms:W3CDTF">2026-03-01T10:38:47Z</dcterms:created>
  <dcterms:modified xsi:type="dcterms:W3CDTF">2026-03-01T10:53:31Z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31f0267-8575-4fc2-99cc-f6b7f9934be9_Enabled">
    <vt:lpwstr>true</vt:lpwstr>
  </property>
  <property fmtid="{D5CDD505-2E9C-101B-9397-08002B2CF9AE}" pid="3" name="MSIP_Label_831f0267-8575-4fc2-99cc-f6b7f9934be9_SetDate">
    <vt:lpwstr>2026-03-01T10:52:13Z</vt:lpwstr>
  </property>
  <property fmtid="{D5CDD505-2E9C-101B-9397-08002B2CF9AE}" pid="4" name="MSIP_Label_831f0267-8575-4fc2-99cc-f6b7f9934be9_Method">
    <vt:lpwstr>Standard</vt:lpwstr>
  </property>
  <property fmtid="{D5CDD505-2E9C-101B-9397-08002B2CF9AE}" pid="5" name="MSIP_Label_831f0267-8575-4fc2-99cc-f6b7f9934be9_Name">
    <vt:lpwstr>831f0267-8575-4fc2-99cc-f6b7f9934be9</vt:lpwstr>
  </property>
  <property fmtid="{D5CDD505-2E9C-101B-9397-08002B2CF9AE}" pid="6" name="MSIP_Label_831f0267-8575-4fc2-99cc-f6b7f9934be9_SiteId">
    <vt:lpwstr>8f3e36ea-8039-4b40-81a7-7dc0599e8645</vt:lpwstr>
  </property>
  <property fmtid="{D5CDD505-2E9C-101B-9397-08002B2CF9AE}" pid="7" name="MSIP_Label_831f0267-8575-4fc2-99cc-f6b7f9934be9_ActionId">
    <vt:lpwstr>183ace38-0e0a-4f3c-b116-d3ce4247951c</vt:lpwstr>
  </property>
  <property fmtid="{D5CDD505-2E9C-101B-9397-08002B2CF9AE}" pid="8" name="MSIP_Label_831f0267-8575-4fc2-99cc-f6b7f9934be9_ContentBits">
    <vt:lpwstr>0</vt:lpwstr>
  </property>
  <property fmtid="{D5CDD505-2E9C-101B-9397-08002B2CF9AE}" pid="9" name="MSIP_Label_831f0267-8575-4fc2-99cc-f6b7f9934be9_Tag">
    <vt:lpwstr>50, 3, 0, 1</vt:lpwstr>
  </property>
</Properties>
</file>